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Insights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GenAI-Powered Multi-Agent System for 100GB+ Scale Retail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**Problem**: Executives need instant, conversational access to 100GB+ retail data</a:t>
            </a:r>
          </a:p>
          <a:p>
            <a:pPr>
              <a:defRPr sz="1800"/>
            </a:pPr>
            <a:r>
              <a:t>**Solution**: GenAI-powered multi-agent system combining:</a:t>
            </a:r>
          </a:p>
          <a:p>
            <a:pPr>
              <a:defRPr sz="1800"/>
            </a:pPr>
            <a:r>
              <a:t>🤖 4-Agent Architecture (Query Resolution, Data Extraction, Validation, Analysis)</a:t>
            </a:r>
          </a:p>
          <a:p>
            <a:pPr>
              <a:defRPr sz="1800"/>
            </a:pPr>
            <a:r>
              <a:t>🔄 LangGraph Workflow (7 processing nodes)</a:t>
            </a:r>
          </a:p>
          <a:p>
            <a:pPr>
              <a:defRPr sz="1800"/>
            </a:pPr>
            <a:r>
              <a:t>🧠 LLMs (Gemini Pro / GPT-3.5-Turbo)</a:t>
            </a:r>
          </a:p>
          <a:p>
            <a:pPr>
              <a:defRPr sz="1800"/>
            </a:pPr>
            <a:r>
              <a:t>💾 DuckDB (Analytical Database)</a:t>
            </a:r>
          </a:p>
          <a:p>
            <a:pPr>
              <a:defRPr sz="1800"/>
            </a:pPr>
            <a:r>
              <a:t>🔍 FAISS + RAG (Conversation Memory)</a:t>
            </a:r>
          </a:p>
          <a:p>
            <a:pPr>
              <a:defRPr sz="1800"/>
            </a:pPr>
            <a:r>
              <a:t>📊 Streamlit UI (4 Interactive Tabs)</a:t>
            </a:r>
          </a:p>
          <a:p>
            <a:pPr>
              <a:defRPr sz="1800"/>
            </a:pPr>
            <a:r>
              <a:t>**Key Capabilities**:</a:t>
            </a:r>
          </a:p>
          <a:p>
            <a:pPr>
              <a:defRPr sz="1800"/>
            </a:pPr>
            <a:r>
              <a:t>1. **Summarization Mode**: Auto-generate business intelligence reports</a:t>
            </a:r>
          </a:p>
          <a:p>
            <a:pPr>
              <a:defRPr sz="1800"/>
            </a:pPr>
            <a:r>
              <a:t>2. **Q&amp;A Mode**: Natural language queries with confidence scoring</a:t>
            </a:r>
          </a:p>
          <a:p>
            <a:pPr>
              <a:defRPr sz="1800"/>
            </a:pPr>
            <a:r>
              <a:t>3. **Data Explorer**: Interactive data profiling</a:t>
            </a:r>
          </a:p>
          <a:p>
            <a:pPr>
              <a:defRPr sz="1800"/>
            </a:pPr>
            <a:r>
              <a:t>4. **Data Analyst**: Comprehensive statistical analysis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**Technology Stack**:</a:t>
            </a:r>
          </a:p>
          <a:p>
            <a:pPr>
              <a:defRPr sz="1800"/>
            </a:pPr>
            <a:r>
              <a:t>**Orchestration**: LangGraph (StateGraph, ToolExecutor)</a:t>
            </a:r>
          </a:p>
          <a:p>
            <a:pPr>
              <a:defRPr sz="1800"/>
            </a:pPr>
            <a:r>
              <a:t>**LLM**: LangChain + Gemini/OpenAI</a:t>
            </a:r>
          </a:p>
          <a:p>
            <a:pPr>
              <a:defRPr sz="1800"/>
            </a:pPr>
            <a:r>
              <a:t>**Database**: DuckDB (OLAP-optimized)</a:t>
            </a:r>
          </a:p>
          <a:p>
            <a:pPr>
              <a:defRPr sz="1800"/>
            </a:pPr>
            <a:r>
              <a:t>**Vector Store**: FAISS + sentence-transformers</a:t>
            </a:r>
          </a:p>
          <a:p>
            <a:pPr>
              <a:defRPr sz="1800"/>
            </a:pPr>
            <a:r>
              <a:t>**UI**: Streamlit with Plotly visualizations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**1. QueryResolutionAgent** (enhanced_query_resolution.py)</a:t>
            </a:r>
          </a:p>
          <a:p>
            <a:pPr>
              <a:defRPr sz="1800"/>
            </a:pPr>
            <a:r>
              <a:t>**Input**: Natural language question + conversation context</a:t>
            </a:r>
          </a:p>
          <a:p>
            <a:pPr>
              <a:defRPr sz="1800"/>
            </a:pPr>
            <a:r>
              <a:t>**Processing**:</a:t>
            </a:r>
          </a:p>
          <a:p>
            <a:pPr>
              <a:defRPr sz="1800"/>
            </a:pPr>
            <a:r>
              <a:t>Parse user intent using LLM</a:t>
            </a:r>
          </a:p>
          <a:p>
            <a:pPr>
              <a:defRPr sz="1800"/>
            </a:pPr>
            <a:r>
              <a:t>Map business terms to actual columns (e.g., "revenue" → "Amount")</a:t>
            </a:r>
          </a:p>
          <a:p>
            <a:pPr>
              <a:defRPr sz="1800"/>
            </a:pPr>
            <a:r>
              <a:t>Determine query type (summary/analytical/comparison/timeseries)</a:t>
            </a:r>
          </a:p>
          <a:p>
            <a:pPr>
              <a:defRPr sz="1800"/>
            </a:pPr>
            <a:r>
              <a:t>Generate structured query specification</a:t>
            </a:r>
          </a:p>
          <a:p>
            <a:pPr>
              <a:defRPr sz="1800"/>
            </a:pPr>
            <a:r>
              <a:t>**Output**:</a:t>
            </a:r>
          </a:p>
          <a:p>
            <a:pPr>
              <a:defRPr sz="1800"/>
            </a:pPr>
            <a:r>
              <a:t>**2. DataExtractionAgent** (multi_agent.py)</a:t>
            </a:r>
          </a:p>
          <a:p>
            <a:pPr>
              <a:defRPr sz="1800"/>
            </a:pPr>
            <a:r>
              <a:t>**Input**: Structured query specification</a:t>
            </a:r>
          </a:p>
          <a:p>
            <a:pPr>
              <a:defRPr sz="1800"/>
            </a:pPr>
            <a:r>
              <a:t>**Processing**:</a:t>
            </a:r>
          </a:p>
          <a:p>
            <a:pPr>
              <a:defRPr sz="1800"/>
            </a:pPr>
            <a:r>
              <a:t>Build optimized SQL query</a:t>
            </a:r>
          </a:p>
          <a:p>
            <a:pPr>
              <a:defRPr sz="1800"/>
            </a:pPr>
            <a:r>
              <a:t>Execute against DuckDB</a:t>
            </a:r>
          </a:p>
          <a:p>
            <a:pPr>
              <a:defRPr sz="1800"/>
            </a:pPr>
            <a:r>
              <a:t>Handle errors and retries</a:t>
            </a:r>
          </a:p>
          <a:p>
            <a:pPr>
              <a:defRPr sz="1800"/>
            </a:pPr>
            <a:r>
              <a:t>Apply filters and aggregations</a:t>
            </a:r>
          </a:p>
          <a:p>
            <a:pPr>
              <a:defRPr sz="1800"/>
            </a:pPr>
            <a:r>
              <a:t>**Output**: DataFrame + row count + metadata</a:t>
            </a:r>
          </a:p>
          <a:p>
            <a:pPr>
              <a:defRPr sz="1800"/>
            </a:pPr>
            <a:r>
              <a:t>**3. ValidationAgent** (multi_agent.py)</a:t>
            </a:r>
          </a:p>
          <a:p>
            <a:pPr>
              <a:defRPr sz="1800"/>
            </a:pPr>
            <a:r>
              <a:t>**Input**: Extracted data + original query</a:t>
            </a:r>
          </a:p>
          <a:p>
            <a:pPr>
              <a:defRPr sz="1800"/>
            </a:pPr>
            <a:r>
              <a:t>**Processing**:</a:t>
            </a:r>
          </a:p>
          <a:p>
            <a:pPr>
              <a:defRPr sz="1800"/>
            </a:pPr>
            <a:r>
              <a:t>Validate data quality</a:t>
            </a:r>
          </a:p>
          <a:p>
            <a:pPr>
              <a:defRPr sz="1800"/>
            </a:pPr>
            <a:r>
              <a:t>Compute direct answers from data</a:t>
            </a:r>
          </a:p>
          <a:p>
            <a:pPr>
              <a:defRPr sz="1800"/>
            </a:pPr>
            <a:r>
              <a:t>Generate quantified insights using LLM</a:t>
            </a:r>
          </a:p>
          <a:p>
            <a:pPr>
              <a:defRPr sz="1800"/>
            </a:pPr>
            <a:r>
              <a:t>Calculate confidence scores</a:t>
            </a:r>
          </a:p>
          <a:p>
            <a:pPr>
              <a:defRPr sz="1800"/>
            </a:pPr>
            <a:r>
              <a:t>**Output**: Natural language insights with actual numbers</a:t>
            </a:r>
          </a:p>
          <a:p>
            <a:pPr>
              <a:defRPr sz="1800"/>
            </a:pPr>
            <a:r>
              <a:t>**4. DataAnalystAgent** (multi_agent.py)</a:t>
            </a:r>
          </a:p>
          <a:p>
            <a:pPr>
              <a:defRPr sz="1800"/>
            </a:pPr>
            <a:r>
              <a:t>**Input**: Table name</a:t>
            </a:r>
          </a:p>
          <a:p>
            <a:pPr>
              <a:defRPr sz="1800"/>
            </a:pPr>
            <a:r>
              <a:t>**Processing**:</a:t>
            </a:r>
          </a:p>
          <a:p>
            <a:pPr>
              <a:defRPr sz="1800"/>
            </a:pPr>
            <a:r>
              <a:t>Statistical analysis (mean, median, std, quartiles)</a:t>
            </a:r>
          </a:p>
          <a:p>
            <a:pPr>
              <a:defRPr sz="1800"/>
            </a:pPr>
            <a:r>
              <a:t>Data quality assessment (completeness, duplicates, missing data)</a:t>
            </a:r>
          </a:p>
          <a:p>
            <a:pPr>
              <a:defRPr sz="1800"/>
            </a:pPr>
            <a:r>
              <a:t>Anomaly detection (IQR-based outlier identification)</a:t>
            </a:r>
          </a:p>
          <a:p>
            <a:pPr>
              <a:defRPr sz="1800"/>
            </a:pPr>
            <a:r>
              <a:t>Categorical distribution analysis</a:t>
            </a:r>
          </a:p>
          <a:p>
            <a:pPr>
              <a:defRPr sz="1800"/>
            </a:pPr>
            <a:r>
              <a:t>LLM-powered insight generation</a:t>
            </a:r>
          </a:p>
          <a:p>
            <a:pPr>
              <a:defRPr sz="1800"/>
            </a:pPr>
            <a:r>
              <a:t>**Output**: Comprehensive analysis report with visualizations</a:t>
            </a:r>
          </a:p>
          <a:p>
            <a:pPr>
              <a:defRPr sz="1800"/>
            </a:pPr>
            <a:r>
              <a:t>**Agent Communication**:</a:t>
            </a:r>
          </a:p>
          <a:p>
            <a:pPr>
              <a:defRPr sz="1800"/>
            </a:pPr>
            <a:r>
              <a:t>Sequential pipeline with state passing</a:t>
            </a:r>
          </a:p>
          <a:p>
            <a:pPr>
              <a:defRPr sz="1800"/>
            </a:pPr>
            <a:r>
              <a:t>Error handling with fallback strategies</a:t>
            </a:r>
          </a:p>
          <a:p>
            <a:pPr>
              <a:defRPr sz="1800"/>
            </a:pPr>
            <a:r>
              <a:t>Confidence propagation through stages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Agent Approaches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system offers **two query processing approaches** optimized for different use cases:</a:t>
            </a:r>
          </a:p>
          <a:p>
            <a:pPr>
              <a:defRPr sz="1800"/>
            </a:pPr>
            <a:r>
              <a:t>|-----------|-----------------|-------------------------|</a:t>
            </a:r>
          </a:p>
          <a:p>
            <a:pPr>
              <a:defRPr sz="1800"/>
            </a:pPr>
            <a:r>
              <a:t>LangGraph Workflow (Adaptive):</a:t>
            </a:r>
          </a:p>
          <a:p>
            <a:pPr>
              <a:defRPr sz="1800"/>
            </a:pPr>
            <a:r>
              <a:t>Multi-Agent Pipeline (Direct):</a:t>
            </a:r>
          </a:p>
          <a:p>
            <a:pPr>
              <a:defRPr sz="1800"/>
            </a:pPr>
            <a:r>
              <a:t>LangGraph Excels At:</a:t>
            </a:r>
          </a:p>
          <a:p>
            <a:pPr>
              <a:defRPr sz="1800"/>
            </a:pPr>
            <a:r>
              <a:t>"Compare sales trends between Electronics and Home categories over Q1, and identify correlation with discount rates"</a:t>
            </a:r>
          </a:p>
          <a:p>
            <a:pPr>
              <a:defRPr sz="1800"/>
            </a:pPr>
            <a:r>
              <a:t>"Show me products with declining sales but increasing returns, grouped by region"</a:t>
            </a:r>
          </a:p>
          <a:p>
            <a:pPr>
              <a:defRPr sz="1800"/>
            </a:pPr>
            <a:r>
              <a:t>"What's the relationship between order size and shipping cost across different fulfillment centers?"</a:t>
            </a:r>
          </a:p>
          <a:p>
            <a:pPr>
              <a:defRPr sz="1800"/>
            </a:pPr>
            <a:r>
              <a:t>Multi-Agent Excels At:</a:t>
            </a:r>
          </a:p>
          <a:p>
            <a:pPr>
              <a:defRPr sz="1800"/>
            </a:pPr>
            <a:r>
              <a:t>"Which category generates the highest total sales?" → Direct GROUP BY + SUM</a:t>
            </a:r>
          </a:p>
          <a:p>
            <a:pPr>
              <a:defRPr sz="1800"/>
            </a:pPr>
            <a:r>
              <a:t>"What's the average order value?" → Simple AVG calculation</a:t>
            </a:r>
          </a:p>
          <a:p>
            <a:pPr>
              <a:defRPr sz="1800"/>
            </a:pPr>
            <a:r>
              <a:t>"Show top 10 products by revenue" → Quick ORDER BY + LIMIT</a:t>
            </a:r>
          </a:p>
          <a:p>
            <a:pPr>
              <a:defRPr sz="1800"/>
            </a:pPr>
            <a:r>
              <a:t>"How many orders in May?" → Fast COUNT with filter</a:t>
            </a:r>
          </a:p>
          <a:p>
            <a:pPr>
              <a:defRPr sz="1800"/>
            </a:pPr>
            <a:r>
              <a:t>LangGraph Agent Features:</a:t>
            </a:r>
          </a:p>
          <a:p>
            <a:pPr>
              <a:defRPr sz="1800"/>
            </a:pPr>
            <a:r>
              <a:t>Conditional branching based on query complexity</a:t>
            </a:r>
          </a:p>
          <a:p>
            <a:pPr>
              <a:defRPr sz="1800"/>
            </a:pPr>
            <a:r>
              <a:t>State persistence across nodes</a:t>
            </a:r>
          </a:p>
          <a:p>
            <a:pPr>
              <a:defRPr sz="1800"/>
            </a:pPr>
            <a:r>
              <a:t>Tool-based architecture (query_database, analyze_data)</a:t>
            </a:r>
          </a:p>
          <a:p>
            <a:pPr>
              <a:defRPr sz="1800"/>
            </a:pPr>
            <a:r>
              <a:t>Automatic retry with query refinement</a:t>
            </a:r>
          </a:p>
          <a:p>
            <a:pPr>
              <a:defRPr sz="1800"/>
            </a:pPr>
            <a:r>
              <a:t>Sub-query merging for complex analyses</a:t>
            </a:r>
          </a:p>
          <a:p>
            <a:pPr>
              <a:defRPr sz="1800"/>
            </a:pPr>
            <a:r>
              <a:t>Multi-Agent Orchestrator Features:</a:t>
            </a:r>
          </a:p>
          <a:p>
            <a:pPr>
              <a:defRPr sz="1800"/>
            </a:pPr>
            <a:r>
              <a:t>Direct computation patterns (no LLM for simple aggregations)</a:t>
            </a:r>
          </a:p>
          <a:p>
            <a:pPr>
              <a:defRPr sz="1800"/>
            </a:pPr>
            <a:r>
              <a:t>Built-in answer templates for common questions</a:t>
            </a:r>
          </a:p>
          <a:p>
            <a:pPr>
              <a:defRPr sz="1800"/>
            </a:pPr>
            <a:r>
              <a:t>Optimized SQL generation with GROUP BY/aggregations</a:t>
            </a:r>
          </a:p>
          <a:p>
            <a:pPr>
              <a:defRPr sz="1800"/>
            </a:pPr>
            <a:r>
              <a:t>Faster for single-table queries</a:t>
            </a:r>
          </a:p>
          <a:p>
            <a:pPr>
              <a:defRPr sz="1800"/>
            </a:pPr>
            <a:r>
              <a:t>Better for real-time dashboards</a:t>
            </a:r>
          </a:p>
          <a:p>
            <a:pPr>
              <a:defRPr sz="1800"/>
            </a:pPr>
            <a:r>
              <a:t>|-----------|-----------|-------------|</a:t>
            </a:r>
          </a:p>
          <a:p>
            <a:pPr>
              <a:defRPr sz="1800"/>
            </a:pPr>
            <a:r>
              <a:t>**💡 Recommendation**: Start with Multi-Agent for quick answers. Switch to LangGraph when queries require breaking down into multiple steps or when initial results need refinement.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![LangGraph Workflow Architecture](../screenshots/langgraph_viz.jpg)</a:t>
            </a:r>
          </a:p>
          <a:p>
            <a:pPr>
              <a:defRPr sz="1800"/>
            </a:pPr>
            <a:r>
              <a:t>*Visual representation of the 7-node state machine with conditional routing*</a:t>
            </a:r>
          </a:p>
          <a:p>
            <a:pPr>
              <a:defRPr sz="1800"/>
            </a:pPr>
            <a:r>
              <a:t>**📖 Detailed Documentation:** See [LANGGRAPH_VISUALIZATION.md](LANGGRAPH_VISUALIZATION.md) for complete architecture details.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**State Schema**:</a:t>
            </a:r>
          </a:p>
          <a:p>
            <a:pPr>
              <a:defRPr sz="1800"/>
            </a:pPr>
            <a:r>
              <a:t>**Node Functions**:</a:t>
            </a:r>
          </a:p>
          <a:p>
            <a:pPr>
              <a:defRPr sz="1800"/>
            </a:pPr>
            <a:r>
              <a:t>Each node is atomic and stateless</a:t>
            </a:r>
          </a:p>
          <a:p>
            <a:pPr>
              <a:defRPr sz="1800"/>
            </a:pPr>
            <a:r>
              <a:t>Updates state using immutable patterns</a:t>
            </a:r>
          </a:p>
          <a:p>
            <a:pPr>
              <a:defRPr sz="1800"/>
            </a:pPr>
            <a:r>
              <a:t>Conditional edges route based on state flags</a:t>
            </a:r>
          </a:p>
          <a:p>
            <a:pPr>
              <a:defRPr sz="1800"/>
            </a:pPr>
            <a:r>
              <a:t>Tool executor handles database operations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Integration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**1. Structured Prompt Templates**:</a:t>
            </a:r>
          </a:p>
          <a:p>
            <a:pPr>
              <a:defRPr sz="1800"/>
            </a:pPr>
            <a:r>
              <a:t>**2. Prompt Optimization Techniques**:</a:t>
            </a:r>
          </a:p>
          <a:p>
            <a:pPr>
              <a:defRPr sz="1800"/>
            </a:pPr>
            <a:r>
              <a:t>**Specificity**: Require actual numbers, ban vague language</a:t>
            </a:r>
          </a:p>
          <a:p>
            <a:pPr>
              <a:defRPr sz="1800"/>
            </a:pPr>
            <a:r>
              <a:t>**Structure**: Numbered sections, bullet points, emojis</a:t>
            </a:r>
          </a:p>
          <a:p>
            <a:pPr>
              <a:defRPr sz="1800"/>
            </a:pPr>
            <a:r>
              <a:t>**Examples**: Few-shot prompts for complex tasks</a:t>
            </a:r>
          </a:p>
          <a:p>
            <a:pPr>
              <a:defRPr sz="1800"/>
            </a:pPr>
            <a:r>
              <a:t>**Constraints**: Explicit DO/DON'T lists</a:t>
            </a:r>
          </a:p>
          <a:p>
            <a:pPr>
              <a:defRPr sz="1800"/>
            </a:pPr>
            <a:r>
              <a:t>**Validation**: Output format enforcement (JSON schemas)</a:t>
            </a:r>
          </a:p>
          <a:p>
            <a:pPr>
              <a:defRPr sz="1800"/>
            </a:pPr>
            <a:r>
              <a:t>**3. LLM Usage by Component**:</a:t>
            </a:r>
          </a:p>
          <a:p>
            <a:pPr>
              <a:defRPr sz="1800"/>
            </a:pPr>
            <a:r>
              <a:t>|-----------|-----------|-------------|-----|</a:t>
            </a:r>
          </a:p>
          <a:p>
            <a:pPr>
              <a:defRPr sz="1800"/>
            </a:pPr>
            <a:r>
              <a:t>**Benefits**:</a:t>
            </a:r>
          </a:p>
          <a:p>
            <a:pPr>
              <a:defRPr sz="1800"/>
            </a:pPr>
            <a:r>
              <a:t>Maintains conversation coherence</a:t>
            </a:r>
          </a:p>
          <a:p>
            <a:pPr>
              <a:defRPr sz="1800"/>
            </a:pPr>
            <a:r>
              <a:t>Resolves ambiguous follow-up questions</a:t>
            </a:r>
          </a:p>
          <a:p>
            <a:pPr>
              <a:defRPr sz="1800"/>
            </a:pPr>
            <a:r>
              <a:t>Reduces redundant queries</a:t>
            </a:r>
          </a:p>
          <a:p>
            <a:pPr>
              <a:defRPr sz="1800"/>
            </a:pPr>
            <a:r>
              <a:t>Improves confidence scores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**Performance Metrics** (Current Implementation):</a:t>
            </a:r>
          </a:p>
          <a:p>
            <a:pPr>
              <a:defRPr sz="1800"/>
            </a:pPr>
            <a:r>
              <a:t>Query Resolution: ~1-2 seconds</a:t>
            </a:r>
          </a:p>
          <a:p>
            <a:pPr>
              <a:defRPr sz="1800"/>
            </a:pPr>
            <a:r>
              <a:t>Data Extraction: ~0.1-0.5 seconds (DuckDB)</a:t>
            </a:r>
          </a:p>
          <a:p>
            <a:pPr>
              <a:defRPr sz="1800"/>
            </a:pPr>
            <a:r>
              <a:t>LLM Analysis: ~2-4 seconds (API latency)</a:t>
            </a:r>
          </a:p>
          <a:p>
            <a:pPr>
              <a:defRPr sz="1800"/>
            </a:pPr>
            <a:r>
              <a:t>Visualization: ~0.2 seconds</a:t>
            </a:r>
          </a:p>
          <a:p>
            <a:pPr>
              <a:defRPr sz="1800"/>
            </a:pPr>
            <a:r>
              <a:t>**Total End-to-End**: ~4-7 seconds per query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Query-Response Pipeline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**User Query**: *"Which category generates the highest revenue, and what is the breakdown by region?"*</a:t>
            </a:r>
          </a:p>
          <a:p>
            <a:pPr>
              <a:defRPr sz="1800"/>
            </a:pPr>
            <a:r>
              <a:t>**Extracted Data** (sample):</a:t>
            </a:r>
          </a:p>
          <a:p>
            <a:pPr>
              <a:defRPr sz="1800"/>
            </a:pPr>
            <a:r>
              <a:t>|----------|--------|---------|------------|</a:t>
            </a:r>
          </a:p>
          <a:p>
            <a:pPr>
              <a:defRPr sz="1800"/>
            </a:pPr>
            <a:r>
              <a:t>**Total Processing**: ~5.2 seconds</a:t>
            </a:r>
          </a:p>
          <a:p>
            <a:pPr>
              <a:defRPr sz="1800"/>
            </a:pPr>
            <a:r>
              <a:t>Query Resolution: 1.4s</a:t>
            </a:r>
          </a:p>
          <a:p>
            <a:pPr>
              <a:defRPr sz="1800"/>
            </a:pPr>
            <a:r>
              <a:t>SQL Execution: 0.3s</a:t>
            </a:r>
          </a:p>
          <a:p>
            <a:pPr>
              <a:defRPr sz="1800"/>
            </a:pPr>
            <a:r>
              <a:t>LLM Analysis: 3.2s</a:t>
            </a:r>
          </a:p>
          <a:p>
            <a:pPr>
              <a:defRPr sz="1800"/>
            </a:pPr>
            <a:r>
              <a:t>Formatting: 0.3s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100GB+ Scalability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**Current Architecture** (Good for &lt;10GB):</a:t>
            </a:r>
          </a:p>
          <a:p>
            <a:pPr>
              <a:defRPr sz="1800"/>
            </a:pPr>
            <a:r>
              <a:t>**100GB+ Architecture** (Production-Ready):</a:t>
            </a:r>
          </a:p>
          <a:p>
            <a:pPr>
              <a:defRPr sz="1800"/>
            </a:pPr>
            <a:r>
              <a:t>**Key Scaling Principles**:</a:t>
            </a:r>
          </a:p>
          <a:p>
            <a:pPr>
              <a:defRPr sz="1800"/>
            </a:pPr>
            <a:r>
              <a:t>1. **Separation of Concerns**: Storage ≠ Compute ≠ Indexing</a:t>
            </a:r>
          </a:p>
          <a:p>
            <a:pPr>
              <a:defRPr sz="1800"/>
            </a:pPr>
            <a:r>
              <a:t>2. **Lazy Loading**: Retrieve only relevant data subsets</a:t>
            </a:r>
          </a:p>
          <a:p>
            <a:pPr>
              <a:defRPr sz="1800"/>
            </a:pPr>
            <a:r>
              <a:t>3. **Materialized Views**: Pre-compute common aggregations</a:t>
            </a:r>
          </a:p>
          <a:p>
            <a:pPr>
              <a:defRPr sz="1800"/>
            </a:pPr>
            <a:r>
              <a:t>4. **Distributed Processing**: Parallelize across nodes</a:t>
            </a:r>
          </a:p>
          <a:p>
            <a:pPr>
              <a:defRPr sz="1800"/>
            </a:pPr>
            <a:r>
              <a:t>5. **Tiered Caching**: Hot/Warm/Cold data strategy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**Challenge**: Processing massive CSV files without OOM errors</a:t>
            </a:r>
          </a:p>
          <a:p>
            <a:pPr>
              <a:defRPr sz="1800"/>
            </a:pPr>
            <a:r>
              <a:t>**Benefits**:</a:t>
            </a:r>
          </a:p>
          <a:p>
            <a:pPr>
              <a:defRPr sz="1800"/>
            </a:pPr>
            <a:r>
              <a:t>Process 100GB in ~10-15 minutes on 10-node cluster</a:t>
            </a:r>
          </a:p>
          <a:p>
            <a:pPr>
              <a:defRPr sz="1800"/>
            </a:pPr>
            <a:r>
              <a:t>Automatic parallelization across executors</a:t>
            </a:r>
          </a:p>
          <a:p>
            <a:pPr>
              <a:defRPr sz="1800"/>
            </a:pPr>
            <a:r>
              <a:t>Fault tolerance with lineage tracking</a:t>
            </a:r>
          </a:p>
          <a:p>
            <a:pPr>
              <a:defRPr sz="1800"/>
            </a:pPr>
            <a:r>
              <a:t>Output partitioned by time for efficient filtering</a:t>
            </a:r>
          </a:p>
          <a:p>
            <a:pPr>
              <a:defRPr sz="1800"/>
            </a:pPr>
            <a:r>
              <a:t>**Benefits**:</a:t>
            </a:r>
          </a:p>
          <a:p>
            <a:pPr>
              <a:defRPr sz="1800"/>
            </a:pPr>
            <a:r>
              <a:t>Pandas-like API with distributed computing</a:t>
            </a:r>
          </a:p>
          <a:p>
            <a:pPr>
              <a:defRPr sz="1800"/>
            </a:pPr>
            <a:r>
              <a:t>Scales to multi-TB datasets</a:t>
            </a:r>
          </a:p>
          <a:p>
            <a:pPr>
              <a:defRPr sz="1800"/>
            </a:pPr>
            <a:r>
              <a:t>Suitable for Python-heavy workflows</a:t>
            </a:r>
          </a:p>
          <a:p>
            <a:pPr>
              <a:defRPr sz="1800"/>
            </a:pPr>
            <a:r>
              <a:t>Integrates with existing pandas code</a:t>
            </a:r>
          </a:p>
          <a:p>
            <a:pPr>
              <a:defRPr sz="1800"/>
            </a:pPr>
            <a:r>
              <a:t>**Benefits**:</a:t>
            </a:r>
          </a:p>
          <a:p>
            <a:pPr>
              <a:defRPr sz="1800"/>
            </a:pPr>
            <a:r>
              <a:t>Handle continuous data streams</a:t>
            </a:r>
          </a:p>
          <a:p>
            <a:pPr>
              <a:defRPr sz="1800"/>
            </a:pPr>
            <a:r>
              <a:t>Near real-time analytics (seconds latency)</a:t>
            </a:r>
          </a:p>
          <a:p>
            <a:pPr>
              <a:defRPr sz="1800"/>
            </a:pPr>
            <a:r>
              <a:t>Exactly-once processing guarantees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&amp; Indexing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Why Delta Lake?</a:t>
            </a:r>
          </a:p>
          <a:p>
            <a:pPr>
              <a:defRPr sz="1800"/>
            </a:pPr>
            <a:r>
              <a:t>ACID transactions on cloud object storage</a:t>
            </a:r>
          </a:p>
          <a:p>
            <a:pPr>
              <a:defRPr sz="1800"/>
            </a:pPr>
            <a:r>
              <a:t>Time travel (query historical versions)</a:t>
            </a:r>
          </a:p>
          <a:p>
            <a:pPr>
              <a:defRPr sz="1800"/>
            </a:pPr>
            <a:r>
              <a:t>Schema evolution without breaking changes</a:t>
            </a:r>
          </a:p>
          <a:p>
            <a:pPr>
              <a:defRPr sz="1800"/>
            </a:pPr>
            <a:r>
              <a:t>Optimized for analytics (Parquet + stats)</a:t>
            </a:r>
          </a:p>
          <a:p>
            <a:pPr>
              <a:defRPr sz="1800"/>
            </a:pPr>
            <a:r>
              <a:t>Integrates with Spark, Databricks, DuckDB</a:t>
            </a:r>
          </a:p>
          <a:p>
            <a:pPr>
              <a:defRPr sz="1800"/>
            </a:pPr>
            <a:r>
              <a:t>**Benefits**:</a:t>
            </a:r>
          </a:p>
          <a:p>
            <a:pPr>
              <a:defRPr sz="1800"/>
            </a:pPr>
            <a:r>
              <a:t>Auto-scaling compute</a:t>
            </a:r>
          </a:p>
          <a:p>
            <a:pPr>
              <a:defRPr sz="1800"/>
            </a:pPr>
            <a:r>
              <a:t>Pay per query (no idle costs)</a:t>
            </a:r>
          </a:p>
          <a:p>
            <a:pPr>
              <a:defRPr sz="1800"/>
            </a:pPr>
            <a:r>
              <a:t>Sub-second queries on TBs</a:t>
            </a:r>
          </a:p>
          <a:p>
            <a:pPr>
              <a:defRPr sz="1800"/>
            </a:pPr>
            <a:r>
              <a:t>Built-in ML capabilities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&amp; Query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**Current Implementation**:</a:t>
            </a:r>
          </a:p>
          <a:p>
            <a:pPr>
              <a:defRPr sz="1800"/>
            </a:pPr>
            <a:r>
              <a:t>FAISS for conversation memory</a:t>
            </a:r>
          </a:p>
          <a:p>
            <a:pPr>
              <a:defRPr sz="1800"/>
            </a:pPr>
            <a:r>
              <a:t>Sentence-BERT embeddings</a:t>
            </a:r>
          </a:p>
          <a:p>
            <a:pPr>
              <a:defRPr sz="1800"/>
            </a:pPr>
            <a:r>
              <a:t>K=2 nearest previous queries</a:t>
            </a:r>
          </a:p>
          <a:p>
            <a:pPr>
              <a:defRPr sz="1800"/>
            </a:pPr>
            <a:r>
              <a:t>**100GB Scale Enhancement**:</a:t>
            </a:r>
          </a:p>
          <a:p>
            <a:pPr>
              <a:defRPr sz="1800"/>
            </a:pPr>
            <a:r>
              <a:t>**Benefits**:</a:t>
            </a:r>
          </a:p>
          <a:p>
            <a:pPr>
              <a:defRPr sz="1800"/>
            </a:pPr>
            <a:r>
              <a:t>**98% reduction** in data scanned</a:t>
            </a:r>
          </a:p>
          <a:p>
            <a:pPr>
              <a:defRPr sz="1800"/>
            </a:pPr>
            <a:r>
              <a:t>**80% cache hit rate** for common queries</a:t>
            </a:r>
          </a:p>
          <a:p>
            <a:pPr>
              <a:defRPr sz="1800"/>
            </a:pPr>
            <a:r>
              <a:t>**3x faster** query responses</a:t>
            </a:r>
          </a:p>
          <a:p>
            <a:pPr>
              <a:defRPr sz="1800"/>
            </a:pPr>
            <a:r>
              <a:t>**60% cost savings** on LLM API calls</a:t>
            </a:r>
          </a:p>
          <a:p>
            <a:pPr>
              <a:defRPr sz="1800"/>
            </a:pPr>
            <a:r>
              <a:t>**Auto-refresh strategy**: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Orchestration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**Problem**: 1000 concurrent users × 5 second LLM latency = bottleneck</a:t>
            </a:r>
          </a:p>
          <a:p>
            <a:pPr>
              <a:defRPr sz="1800"/>
            </a:pPr>
            <a:r>
              <a:t>**Solution**: Async Processing + Load Balancing</a:t>
            </a:r>
          </a:p>
          <a:p>
            <a:pPr>
              <a:defRPr sz="1800"/>
            </a:pPr>
            <a:r>
              <a:t>1. Prompt Caching</a:t>
            </a:r>
          </a:p>
          <a:p>
            <a:pPr>
              <a:defRPr sz="1800"/>
            </a:pPr>
            <a:r>
              <a:t>**Savings**: 70% reduction in API calls for repeated queries</a:t>
            </a:r>
          </a:p>
          <a:p>
            <a:pPr>
              <a:defRPr sz="1800"/>
            </a:pPr>
            <a:r>
              <a:t>2. Model Tiering</a:t>
            </a:r>
          </a:p>
          <a:p>
            <a:pPr>
              <a:defRPr sz="1800"/>
            </a:pPr>
            <a:r>
              <a:t>**Savings**: 60% reduction in API costs</a:t>
            </a:r>
          </a:p>
          <a:p>
            <a:pPr>
              <a:defRPr sz="1800"/>
            </a:pPr>
            <a:r>
              <a:t>3. Batch Processing</a:t>
            </a:r>
          </a:p>
          <a:p>
            <a:pPr>
              <a:defRPr sz="1800"/>
            </a:pPr>
            <a:r>
              <a:t>**Savings**: 70% reduction in API calls for multi-question chats</a:t>
            </a:r>
          </a:p>
          <a:p>
            <a:pPr>
              <a:defRPr sz="1800"/>
            </a:pPr>
            <a:r>
              <a:t>|--------|--------|---------|-----|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Query Performance</a:t>
            </a:r>
          </a:p>
          <a:p>
            <a:pPr>
              <a:defRPr sz="1800"/>
            </a:pPr>
            <a:r>
              <a:t>**Metrics**:</a:t>
            </a:r>
          </a:p>
          <a:p>
            <a:pPr>
              <a:defRPr sz="1800"/>
            </a:pPr>
            <a:r>
              <a:t>Query latency (p50, p95, p99)</a:t>
            </a:r>
          </a:p>
          <a:p>
            <a:pPr>
              <a:defRPr sz="1800"/>
            </a:pPr>
            <a:r>
              <a:t>Node processing time breakdown</a:t>
            </a:r>
          </a:p>
          <a:p>
            <a:pPr>
              <a:defRPr sz="1800"/>
            </a:pPr>
            <a:r>
              <a:t>SQL execution time</a:t>
            </a:r>
          </a:p>
          <a:p>
            <a:pPr>
              <a:defRPr sz="1800"/>
            </a:pPr>
            <a:r>
              <a:t>LLM API latency</a:t>
            </a:r>
          </a:p>
          <a:p>
            <a:pPr>
              <a:defRPr sz="1800"/>
            </a:pPr>
            <a:r>
              <a:t>2. LLM Performance</a:t>
            </a:r>
          </a:p>
          <a:p>
            <a:pPr>
              <a:defRPr sz="1800"/>
            </a:pPr>
            <a:r>
              <a:t>**Metrics**:</a:t>
            </a:r>
          </a:p>
          <a:p>
            <a:pPr>
              <a:defRPr sz="1800"/>
            </a:pPr>
            <a:r>
              <a:t>API call success/failure rate</a:t>
            </a:r>
          </a:p>
          <a:p>
            <a:pPr>
              <a:defRPr sz="1800"/>
            </a:pPr>
            <a:r>
              <a:t>Token usage (input/output)</a:t>
            </a:r>
          </a:p>
          <a:p>
            <a:pPr>
              <a:defRPr sz="1800"/>
            </a:pPr>
            <a:r>
              <a:t>Cost per query</a:t>
            </a:r>
          </a:p>
          <a:p>
            <a:pPr>
              <a:defRPr sz="1800"/>
            </a:pPr>
            <a:r>
              <a:t>Model selection distribution</a:t>
            </a:r>
          </a:p>
          <a:p>
            <a:pPr>
              <a:defRPr sz="1800"/>
            </a:pPr>
            <a:r>
              <a:t>3. Data Quality</a:t>
            </a:r>
          </a:p>
          <a:p>
            <a:pPr>
              <a:defRPr sz="1800"/>
            </a:pPr>
            <a:r>
              <a:t>**Metrics**:</a:t>
            </a:r>
          </a:p>
          <a:p>
            <a:pPr>
              <a:defRPr sz="1800"/>
            </a:pPr>
            <a:r>
              <a:t>Data freshness (last update)</a:t>
            </a:r>
          </a:p>
          <a:p>
            <a:pPr>
              <a:defRPr sz="1800"/>
            </a:pPr>
            <a:r>
              <a:t>Completeness percentage</a:t>
            </a:r>
          </a:p>
          <a:p>
            <a:pPr>
              <a:defRPr sz="1800"/>
            </a:pPr>
            <a:r>
              <a:t>Duplicate rate</a:t>
            </a:r>
          </a:p>
          <a:p>
            <a:pPr>
              <a:defRPr sz="1800"/>
            </a:pPr>
            <a:r>
              <a:t>Schema drift detection</a:t>
            </a:r>
          </a:p>
          <a:p>
            <a:pPr>
              <a:defRPr sz="1800"/>
            </a:pPr>
            <a:r>
              <a:t>1. Answer Accuracy</a:t>
            </a:r>
          </a:p>
          <a:p>
            <a:pPr>
              <a:defRPr sz="1800"/>
            </a:pPr>
            <a:r>
              <a:t>**Target**: &gt;90% accuracy on test set</a:t>
            </a:r>
          </a:p>
          <a:p>
            <a:pPr>
              <a:defRPr sz="1800"/>
            </a:pPr>
            <a:r>
              <a:t>2. Response Latency Targets</a:t>
            </a:r>
          </a:p>
          <a:p>
            <a:pPr>
              <a:defRPr sz="1800"/>
            </a:pPr>
            <a:r>
              <a:t>|------------|-----|-----|-----|</a:t>
            </a:r>
          </a:p>
          <a:p>
            <a:pPr>
              <a:defRPr sz="1800"/>
            </a:pPr>
            <a:r>
              <a:t>3. User Satisfaction</a:t>
            </a:r>
          </a:p>
          <a:p>
            <a:pPr>
              <a:defRPr sz="1800"/>
            </a:pPr>
            <a:r>
              <a:t>**Target**: &gt;85% positive feedback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&amp; 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**Current Implementation (&lt;10GB)**:</a:t>
            </a:r>
          </a:p>
          <a:p>
            <a:pPr>
              <a:defRPr sz="1800"/>
            </a:pPr>
            <a:r>
              <a:t>**100GB+ Production Scale**:</a:t>
            </a:r>
          </a:p>
          <a:p>
            <a:pPr>
              <a:defRPr sz="1800"/>
            </a:pPr>
            <a:r>
              <a:t>**Cost Optimization ROI**:</a:t>
            </a:r>
          </a:p>
          <a:p>
            <a:pPr>
              <a:defRPr sz="1800"/>
            </a:pPr>
            <a:r>
              <a:t>Without optimization: ~$1,200/month</a:t>
            </a:r>
          </a:p>
          <a:p>
            <a:pPr>
              <a:defRPr sz="1800"/>
            </a:pPr>
            <a:r>
              <a:t>With optimization: ~$412/month</a:t>
            </a:r>
          </a:p>
          <a:p>
            <a:pPr>
              <a:defRPr sz="1800"/>
            </a:pPr>
            <a:r>
              <a:t>**Savings: 66%** ($788/month)</a:t>
            </a:r>
          </a:p>
          <a:p>
            <a:pPr>
              <a:defRPr sz="1800"/>
            </a:pPr>
            <a:r>
              <a:t>**Query Processing Time Breakdown**:</a:t>
            </a:r>
          </a:p>
          <a:p>
            <a:pPr>
              <a:defRPr sz="1800"/>
            </a:pPr>
            <a:r>
              <a:t>**Throughput Comparison**:</a:t>
            </a:r>
          </a:p>
          <a:p>
            <a:pPr>
              <a:defRPr sz="1800"/>
            </a:pPr>
            <a:r>
              <a:t>**DuckDB In-Memory Limits**:</a:t>
            </a:r>
          </a:p>
          <a:p>
            <a:pPr>
              <a:defRPr sz="1800"/>
            </a:pPr>
            <a:r>
              <a:t>Single machine: ~32GB RAM = ~10-15GB data</a:t>
            </a:r>
          </a:p>
          <a:p>
            <a:pPr>
              <a:defRPr sz="1800"/>
            </a:pPr>
            <a:r>
              <a:t>Recommendation: Use for aggregates/cache only at scale</a:t>
            </a:r>
          </a:p>
          <a:p>
            <a:pPr>
              <a:defRPr sz="1800"/>
            </a:pPr>
            <a:r>
              <a:t>**BigQuery Scalability**:</a:t>
            </a:r>
          </a:p>
          <a:p>
            <a:pPr>
              <a:defRPr sz="1800"/>
            </a:pPr>
            <a:r>
              <a:t>Tested up to 100TB datasets</a:t>
            </a:r>
          </a:p>
          <a:p>
            <a:pPr>
              <a:defRPr sz="1800"/>
            </a:pPr>
            <a:r>
              <a:t>Query cost-per-TB stays constant</a:t>
            </a:r>
          </a:p>
          <a:p>
            <a:pPr>
              <a:defRPr sz="1800"/>
            </a:pPr>
            <a:r>
              <a:t>Auto-scaling handles concurrency</a:t>
            </a:r>
          </a:p>
          <a:p>
            <a:pPr>
              <a:defRPr sz="1800"/>
            </a:pPr>
            <a:r>
              <a:t>**LLM API Rate Limits**:</a:t>
            </a:r>
          </a:p>
          <a:p>
            <a:pPr>
              <a:defRPr sz="1800"/>
            </a:pPr>
            <a:r>
              <a:t>Gemini Pro: 60 requests/minute (free tier)</a:t>
            </a:r>
          </a:p>
          <a:p>
            <a:pPr>
              <a:defRPr sz="1800"/>
            </a:pPr>
            <a:r>
              <a:t>Gemini Pro: 1,000 requests/minute (paid tier)</a:t>
            </a:r>
          </a:p>
          <a:p>
            <a:pPr>
              <a:defRPr sz="1800"/>
            </a:pPr>
            <a:r>
              <a:t>OpenAI GPT-3.5: 3,500 requests/minute (tier 4)</a:t>
            </a:r>
          </a:p>
          <a:p>
            <a:pPr>
              <a:defRPr sz="1800"/>
            </a:pPr>
            <a:r>
              <a:t>Solution: Implement backoff + request queue</a:t>
            </a:r>
          </a:p>
          <a:p>
            <a:pPr>
              <a:defRPr sz="1800"/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**Core Requirements (Assignment)**:</a:t>
            </a:r>
          </a:p>
          <a:p>
            <a:pPr>
              <a:defRPr sz="1800"/>
            </a:pPr>
            <a:r>
              <a:t>✅ Multi-agent system (4 agents: Query Resolution, Data Extraction, Validation, Data Analyst)</a:t>
            </a:r>
          </a:p>
          <a:p>
            <a:pPr>
              <a:defRPr sz="1800"/>
            </a:pPr>
            <a:r>
              <a:t>✅ LangGraph orchestration (7-node workflow with tools)</a:t>
            </a:r>
          </a:p>
          <a:p>
            <a:pPr>
              <a:defRPr sz="1800"/>
            </a:pPr>
            <a:r>
              <a:t>✅ Summarization mode (business intelligence reports)</a:t>
            </a:r>
          </a:p>
          <a:p>
            <a:pPr>
              <a:defRPr sz="1800"/>
            </a:pPr>
            <a:r>
              <a:t>✅ Conversational Q&amp;A mode (with memory and RAG)</a:t>
            </a:r>
          </a:p>
          <a:p>
            <a:pPr>
              <a:defRPr sz="1800"/>
            </a:pPr>
            <a:r>
              <a:t>✅ CSV/Excel/JSON support</a:t>
            </a:r>
          </a:p>
          <a:p>
            <a:pPr>
              <a:defRPr sz="1800"/>
            </a:pPr>
            <a:r>
              <a:t>✅ Prompt engineering (elite-level prompts across all agents)</a:t>
            </a:r>
          </a:p>
          <a:p>
            <a:pPr>
              <a:defRPr sz="1800"/>
            </a:pPr>
            <a:r>
              <a:t>✅ Confidence scoring</a:t>
            </a:r>
          </a:p>
          <a:p>
            <a:pPr>
              <a:defRPr sz="1800"/>
            </a:pPr>
            <a:r>
              <a:t>✅ Streamlit UI (4 tabs)</a:t>
            </a:r>
          </a:p>
          <a:p>
            <a:pPr>
              <a:defRPr sz="1800"/>
            </a:pPr>
            <a:r>
              <a:t>✅ Data visualization (Plotly charts)</a:t>
            </a:r>
          </a:p>
          <a:p>
            <a:pPr>
              <a:defRPr sz="1800"/>
            </a:pPr>
            <a:r>
              <a:t>✅ PDF export</a:t>
            </a:r>
          </a:p>
          <a:p>
            <a:pPr>
              <a:defRPr sz="1800"/>
            </a:pPr>
            <a:r>
              <a:t>**Technology Stack**:</a:t>
            </a:r>
          </a:p>
          <a:p>
            <a:pPr>
              <a:defRPr sz="1800"/>
            </a:pPr>
            <a:r>
              <a:t>✅ LLM: Gemini Pro + GPT-3.5-Turbo (dual support)</a:t>
            </a:r>
          </a:p>
          <a:p>
            <a:pPr>
              <a:defRPr sz="1800"/>
            </a:pPr>
            <a:r>
              <a:t>✅ Framework: LangChain + LangGraph</a:t>
            </a:r>
          </a:p>
          <a:p>
            <a:pPr>
              <a:defRPr sz="1800"/>
            </a:pPr>
            <a:r>
              <a:t>✅ Database: DuckDB (OLAP-optimized)</a:t>
            </a:r>
          </a:p>
          <a:p>
            <a:pPr>
              <a:defRPr sz="1800"/>
            </a:pPr>
            <a:r>
              <a:t>✅ Vector Store: FAISS + sentence-transformers</a:t>
            </a:r>
          </a:p>
          <a:p>
            <a:pPr>
              <a:defRPr sz="1800"/>
            </a:pPr>
            <a:r>
              <a:t>✅ UI: Streamlit with 4 interactive tabs</a:t>
            </a:r>
          </a:p>
          <a:p>
            <a:pPr>
              <a:defRPr sz="1800"/>
            </a:pPr>
            <a:r>
              <a:t>**Advanced Features**:</a:t>
            </a:r>
          </a:p>
          <a:p>
            <a:pPr>
              <a:defRPr sz="1800"/>
            </a:pPr>
            <a:r>
              <a:t>✅ Conversation memory with RAG</a:t>
            </a:r>
          </a:p>
          <a:p>
            <a:pPr>
              <a:defRPr sz="1800"/>
            </a:pPr>
            <a:r>
              <a:t>✅ Query decomposition for complex questions</a:t>
            </a:r>
          </a:p>
          <a:p>
            <a:pPr>
              <a:defRPr sz="1800"/>
            </a:pPr>
            <a:r>
              <a:t>✅ Automatic visualization generation</a:t>
            </a:r>
          </a:p>
          <a:p>
            <a:pPr>
              <a:defRPr sz="1800"/>
            </a:pPr>
            <a:r>
              <a:t>✅ Suggested follow-up questions</a:t>
            </a:r>
          </a:p>
          <a:p>
            <a:pPr>
              <a:defRPr sz="1800"/>
            </a:pPr>
            <a:r>
              <a:t>✅ Data quality assessment</a:t>
            </a:r>
          </a:p>
          <a:p>
            <a:pPr>
              <a:defRPr sz="1800"/>
            </a:pPr>
            <a:r>
              <a:t>✅ Statistical analysis with anomaly detection</a:t>
            </a:r>
          </a:p>
          <a:p>
            <a:pPr>
              <a:defRPr sz="1800"/>
            </a:pPr>
            <a:r>
              <a:t>Phase 1: Foundation (Months 1-2)</a:t>
            </a:r>
          </a:p>
          <a:p>
            <a:pPr>
              <a:defRPr sz="1800"/>
            </a:pPr>
            <a:r>
              <a:t>[ ] Implement PySpark data processing pipeline</a:t>
            </a:r>
          </a:p>
          <a:p>
            <a:pPr>
              <a:defRPr sz="1800"/>
            </a:pPr>
            <a:r>
              <a:t>[ ] Set up BigQuery data warehouse</a:t>
            </a:r>
          </a:p>
          <a:p>
            <a:pPr>
              <a:defRPr sz="1800"/>
            </a:pPr>
            <a:r>
              <a:t>[ ] Deploy to cloud (AWS/GCP/Azure)</a:t>
            </a:r>
          </a:p>
          <a:p>
            <a:pPr>
              <a:defRPr sz="1800"/>
            </a:pPr>
            <a:r>
              <a:t>[ ] Add Redis caching layer</a:t>
            </a:r>
          </a:p>
          <a:p>
            <a:pPr>
              <a:defRPr sz="1800"/>
            </a:pPr>
            <a:r>
              <a:t>[ ] Implement partition pruning</a:t>
            </a:r>
          </a:p>
          <a:p>
            <a:pPr>
              <a:defRPr sz="1800"/>
            </a:pPr>
            <a:r>
              <a:t>Phase 2: Optimization (Months 3-4)</a:t>
            </a:r>
          </a:p>
          <a:p>
            <a:pPr>
              <a:defRPr sz="1800"/>
            </a:pPr>
            <a:r>
              <a:t>[ ] Deploy Pinecone for vector search</a:t>
            </a:r>
          </a:p>
          <a:p>
            <a:pPr>
              <a:defRPr sz="1800"/>
            </a:pPr>
            <a:r>
              <a:t>[ ] Build materialized views for common queries</a:t>
            </a:r>
          </a:p>
          <a:p>
            <a:pPr>
              <a:defRPr sz="1800"/>
            </a:pPr>
            <a:r>
              <a:t>[ ] Implement async query processing</a:t>
            </a:r>
          </a:p>
          <a:p>
            <a:pPr>
              <a:defRPr sz="1800"/>
            </a:pPr>
            <a:r>
              <a:t>[ ] Add Kubernetes auto-scaling</a:t>
            </a:r>
          </a:p>
          <a:p>
            <a:pPr>
              <a:defRPr sz="1800"/>
            </a:pPr>
            <a:r>
              <a:t>[ ] Set up monitoring (Prometheus + Grafana)</a:t>
            </a:r>
          </a:p>
          <a:p>
            <a:pPr>
              <a:defRPr sz="1800"/>
            </a:pPr>
            <a:r>
              <a:t>Phase 3: Production (Months 5-6)</a:t>
            </a:r>
          </a:p>
          <a:p>
            <a:pPr>
              <a:defRPr sz="1800"/>
            </a:pPr>
            <a:r>
              <a:t>[ ] Load balancing across multiple instances</a:t>
            </a:r>
          </a:p>
          <a:p>
            <a:pPr>
              <a:defRPr sz="1800"/>
            </a:pPr>
            <a:r>
              <a:t>[ ] Implement query queue (Celery)</a:t>
            </a:r>
          </a:p>
          <a:p>
            <a:pPr>
              <a:defRPr sz="1800"/>
            </a:pPr>
            <a:r>
              <a:t>[ ] Add user authentication (OAuth2)</a:t>
            </a:r>
          </a:p>
          <a:p>
            <a:pPr>
              <a:defRPr sz="1800"/>
            </a:pPr>
            <a:r>
              <a:t>[ ] Cost optimization (prompt caching, model tiering)</a:t>
            </a:r>
          </a:p>
          <a:p>
            <a:pPr>
              <a:defRPr sz="1800"/>
            </a:pPr>
            <a:r>
              <a:t>[ ] Comprehensive alerting and SLOs</a:t>
            </a:r>
          </a:p>
          <a:p>
            <a:pPr>
              <a:defRPr sz="1800"/>
            </a:pPr>
            <a:r>
              <a:t>**Expected Results**:</a:t>
            </a:r>
          </a:p>
          <a:p>
            <a:pPr>
              <a:defRPr sz="1800"/>
            </a:pPr>
            <a:r>
              <a:t>**Scale**: Handle 100GB+ datasets</a:t>
            </a:r>
          </a:p>
          <a:p>
            <a:pPr>
              <a:defRPr sz="1800"/>
            </a:pPr>
            <a:r>
              <a:t>**Performance**: &lt;3 second p95 latency</a:t>
            </a:r>
          </a:p>
          <a:p>
            <a:pPr>
              <a:defRPr sz="1800"/>
            </a:pPr>
            <a:r>
              <a:t>**Cost**: &lt;$500/month for 100K queries</a:t>
            </a:r>
          </a:p>
          <a:p>
            <a:pPr>
              <a:defRPr sz="1800"/>
            </a:pPr>
            <a:r>
              <a:t>**Reliability**: 99.9% uptime</a:t>
            </a:r>
          </a:p>
          <a:p>
            <a:pPr>
              <a:defRPr sz="1800"/>
            </a:pPr>
            <a:r>
              <a:t>1. Production-Ready Multi-Agent System</a:t>
            </a:r>
          </a:p>
          <a:p>
            <a:pPr>
              <a:defRPr sz="1800"/>
            </a:pPr>
            <a:r>
              <a:t>Not just a chatbot — intelligent agent workflow</a:t>
            </a:r>
          </a:p>
          <a:p>
            <a:pPr>
              <a:defRPr sz="1800"/>
            </a:pPr>
            <a:r>
              <a:t>LangGraph for complex orchestration</a:t>
            </a:r>
          </a:p>
          <a:p>
            <a:pPr>
              <a:defRPr sz="1800"/>
            </a:pPr>
            <a:r>
              <a:t>Tool-based execution with retry logic</a:t>
            </a:r>
          </a:p>
          <a:p>
            <a:pPr>
              <a:defRPr sz="1800"/>
            </a:pPr>
            <a:r>
              <a:t>2. Intelligent Query Understanding</a:t>
            </a:r>
          </a:p>
          <a:p>
            <a:pPr>
              <a:defRPr sz="1800"/>
            </a:pPr>
            <a:r>
              <a:t>Semantic mapping (business terms → SQL)</a:t>
            </a:r>
          </a:p>
          <a:p>
            <a:pPr>
              <a:defRPr sz="1800"/>
            </a:pPr>
            <a:r>
              <a:t>Context-aware query resolution</a:t>
            </a:r>
          </a:p>
          <a:p>
            <a:pPr>
              <a:defRPr sz="1800"/>
            </a:pPr>
            <a:r>
              <a:t>Confidence scoring at every stage</a:t>
            </a:r>
          </a:p>
          <a:p>
            <a:pPr>
              <a:defRPr sz="1800"/>
            </a:pPr>
            <a:r>
              <a:t>3. Scalability-First Design</a:t>
            </a:r>
          </a:p>
          <a:p>
            <a:pPr>
              <a:defRPr sz="1800"/>
            </a:pPr>
            <a:r>
              <a:t>Clear path from prototype to production</a:t>
            </a:r>
          </a:p>
          <a:p>
            <a:pPr>
              <a:defRPr sz="1800"/>
            </a:pPr>
            <a:r>
              <a:t>Modular architecture supports incremental scaling</a:t>
            </a:r>
          </a:p>
          <a:p>
            <a:pPr>
              <a:defRPr sz="1800"/>
            </a:pPr>
            <a:r>
              <a:t>Cost-conscious design decisions</a:t>
            </a:r>
          </a:p>
          <a:p>
            <a:pPr>
              <a:defRPr sz="1800"/>
            </a:pPr>
            <a:r>
              <a:t>4. Business Value Focus</a:t>
            </a:r>
          </a:p>
          <a:p>
            <a:pPr>
              <a:defRPr sz="1800"/>
            </a:pPr>
            <a:r>
              <a:t>Quantified insights with actual numbers</a:t>
            </a:r>
          </a:p>
          <a:p>
            <a:pPr>
              <a:defRPr sz="1800"/>
            </a:pPr>
            <a:r>
              <a:t>Actionable recommendations</a:t>
            </a:r>
          </a:p>
          <a:p>
            <a:pPr>
              <a:defRPr sz="1800"/>
            </a:pPr>
            <a:r>
              <a:t>Executive-ready reports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**Documentation**:</a:t>
            </a:r>
          </a:p>
          <a:p>
            <a:pPr>
              <a:defRPr sz="1800"/>
            </a:pPr>
            <a:r>
              <a:t>See `README.md` for setup instructions</a:t>
            </a:r>
          </a:p>
          <a:p>
            <a:pPr>
              <a:defRPr sz="1800"/>
            </a:pPr>
            <a:r>
              <a:t>See `SCALABILITY_DESIGN.md` for detailed 100GB+ architecture</a:t>
            </a:r>
          </a:p>
          <a:p>
            <a:pPr>
              <a:defRPr sz="1800"/>
            </a:pPr>
            <a:r>
              <a:t>See `SCREENSHOTS_GUIDE.md` for UI walkthrough</a:t>
            </a:r>
          </a:p>
          <a:p>
            <a:pPr>
              <a:defRPr sz="1800"/>
            </a:pPr>
            <a:r>
              <a:t>**Key Technologies**:</a:t>
            </a:r>
          </a:p>
          <a:p>
            <a:pPr>
              <a:defRPr sz="1800"/>
            </a:pPr>
            <a:r>
              <a:t>LangChain: https://python.langchain.com/</a:t>
            </a:r>
          </a:p>
          <a:p>
            <a:pPr>
              <a:defRPr sz="1800"/>
            </a:pPr>
            <a:r>
              <a:t>LangGraph: https://langchain-ai.github.io/langgraph/</a:t>
            </a:r>
          </a:p>
          <a:p>
            <a:pPr>
              <a:defRPr sz="1800"/>
            </a:pPr>
            <a:r>
              <a:t>DuckDB: https://duckdb.org/</a:t>
            </a:r>
          </a:p>
          <a:p>
            <a:pPr>
              <a:defRPr sz="1800"/>
            </a:pPr>
            <a:r>
              <a:t>Streamlit: https://docs.streamlit.io/</a:t>
            </a:r>
          </a:p>
          <a:p>
            <a:pPr>
              <a:defRPr sz="1800"/>
            </a:pPr>
            <a:r>
              <a:t>---</a:t>
            </a:r>
          </a:p>
          <a:p>
            <a:pPr>
              <a:defRPr sz="1800"/>
            </a:pPr>
            <a:r>
              <a:t>END OF PRESENTATION</a:t>
            </a:r>
          </a:p>
          <a:p>
            <a:pPr>
              <a:defRPr sz="1800"/>
            </a:pPr>
            <a:r>
              <a:t>*This architecture supports both current prototype (&lt;10GB) and production-scale (100GB+) deployments with clear migration path.*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Multi-agent system with 4 specialized agents</a:t>
            </a:r>
          </a:p>
          <a:p>
            <a:pPr>
              <a:defRPr sz="1800"/>
            </a:pPr>
            <a:r>
              <a:t>✅ LangGraph orchestration (7-node workflow)</a:t>
            </a:r>
          </a:p>
          <a:p>
            <a:pPr>
              <a:defRPr sz="1800"/>
            </a:pPr>
            <a:r>
              <a:t>✅ Dual LLM support (Gemini Pro + GPT-3.5-Turbo)</a:t>
            </a:r>
          </a:p>
          <a:p>
            <a:pPr>
              <a:defRPr sz="1800"/>
            </a:pPr>
            <a:r>
              <a:t>✅ DuckDB for high-performance analytics</a:t>
            </a:r>
          </a:p>
          <a:p>
            <a:pPr>
              <a:defRPr sz="1800"/>
            </a:pPr>
            <a:r>
              <a:t>✅ RAG-powered conversation memory</a:t>
            </a:r>
          </a:p>
          <a:p>
            <a:pPr>
              <a:defRPr sz="1800"/>
            </a:pPr>
            <a:r>
              <a:t>✅ Streamlit UI with 4 interactive tabs</a:t>
            </a:r>
          </a:p>
          <a:p>
            <a:pPr>
              <a:defRPr sz="1800"/>
            </a:pPr>
            <a:r>
              <a:t>Scalability Path:</a:t>
            </a:r>
          </a:p>
          <a:p>
            <a:pPr>
              <a:defRPr sz="1800"/>
            </a:pPr>
            <a:r>
              <a:t>Current: &lt;10GB prototype</a:t>
            </a:r>
          </a:p>
          <a:p>
            <a:pPr>
              <a:defRPr sz="1800"/>
            </a:pPr>
            <a:r>
              <a:t>Target: 100GB+ production system</a:t>
            </a:r>
          </a:p>
          <a:p>
            <a:pPr>
              <a:defRPr sz="1800"/>
            </a:pPr>
            <a:r>
              <a:t>Timeline: 6-month roadmap</a:t>
            </a:r>
          </a:p>
          <a:p>
            <a:pPr>
              <a:defRPr sz="1800"/>
            </a:pPr>
            <a:r>
              <a:t>Cost: $433/month at scale</a:t>
            </a:r>
          </a:p>
          <a:p>
            <a:pPr>
              <a:defRPr sz="1800"/>
            </a:pPr>
            <a:r>
              <a:t>Key Achievement: Production-ready architecture with clear scaling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